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Open Sans Bold" charset="1" panose="020B0806030504020204"/>
      <p:regular r:id="rId15"/>
    </p:embeddedFont>
    <p:embeddedFont>
      <p:font typeface="Roboto" charset="1" panose="02000000000000000000"/>
      <p:regular r:id="rId16"/>
    </p:embeddedFont>
    <p:embeddedFont>
      <p:font typeface="Body Text" charset="1" panose="02000503040000020004"/>
      <p:regular r:id="rId17"/>
    </p:embeddedFont>
    <p:embeddedFont>
      <p:font typeface="Poppins" charset="1" panose="00000500000000000000"/>
      <p:regular r:id="rId18"/>
    </p:embeddedFont>
    <p:embeddedFont>
      <p:font typeface="Lato Heavy" charset="1" panose="020F0502020204030203"/>
      <p:regular r:id="rId19"/>
    </p:embeddedFont>
    <p:embeddedFont>
      <p:font typeface="Arvo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502012" y="9181671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4958" y="6361105"/>
            <a:ext cx="8460323" cy="886150"/>
            <a:chOff x="0" y="0"/>
            <a:chExt cx="2228233" cy="2333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8233" cy="233389"/>
            </a:xfrm>
            <a:custGeom>
              <a:avLst/>
              <a:gdLst/>
              <a:ahLst/>
              <a:cxnLst/>
              <a:rect r="r" b="b" t="t" l="l"/>
              <a:pathLst>
                <a:path h="233389" w="2228233">
                  <a:moveTo>
                    <a:pt x="46669" y="0"/>
                  </a:moveTo>
                  <a:lnTo>
                    <a:pt x="2181564" y="0"/>
                  </a:lnTo>
                  <a:cubicBezTo>
                    <a:pt x="2207339" y="0"/>
                    <a:pt x="2228233" y="20895"/>
                    <a:pt x="2228233" y="46669"/>
                  </a:cubicBezTo>
                  <a:lnTo>
                    <a:pt x="2228233" y="186720"/>
                  </a:lnTo>
                  <a:cubicBezTo>
                    <a:pt x="2228233" y="212495"/>
                    <a:pt x="2207339" y="233389"/>
                    <a:pt x="2181564" y="233389"/>
                  </a:cubicBezTo>
                  <a:lnTo>
                    <a:pt x="46669" y="233389"/>
                  </a:lnTo>
                  <a:cubicBezTo>
                    <a:pt x="20895" y="233389"/>
                    <a:pt x="0" y="212495"/>
                    <a:pt x="0" y="186720"/>
                  </a:cubicBezTo>
                  <a:lnTo>
                    <a:pt x="0" y="46669"/>
                  </a:lnTo>
                  <a:cubicBezTo>
                    <a:pt x="0" y="20895"/>
                    <a:pt x="20895" y="0"/>
                    <a:pt x="466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8233" cy="271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10975" y="1169721"/>
            <a:ext cx="7057484" cy="7053675"/>
            <a:chOff x="0" y="0"/>
            <a:chExt cx="1523365" cy="15226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9320" y="0"/>
              <a:ext cx="1504725" cy="1520209"/>
            </a:xfrm>
            <a:custGeom>
              <a:avLst/>
              <a:gdLst/>
              <a:ahLst/>
              <a:cxnLst/>
              <a:rect r="r" b="b" t="t" l="l"/>
              <a:pathLst>
                <a:path h="1520209" w="1504725">
                  <a:moveTo>
                    <a:pt x="988525" y="38104"/>
                  </a:moveTo>
                  <a:lnTo>
                    <a:pt x="1030336" y="53591"/>
                  </a:lnTo>
                  <a:cubicBezTo>
                    <a:pt x="1098393" y="78801"/>
                    <a:pt x="1161533" y="115684"/>
                    <a:pt x="1216919" y="162585"/>
                  </a:cubicBezTo>
                  <a:lnTo>
                    <a:pt x="1251810" y="192130"/>
                  </a:lnTo>
                  <a:cubicBezTo>
                    <a:pt x="1307190" y="239026"/>
                    <a:pt x="1353900" y="295286"/>
                    <a:pt x="1389811" y="358345"/>
                  </a:cubicBezTo>
                  <a:lnTo>
                    <a:pt x="1414535" y="401760"/>
                  </a:lnTo>
                  <a:cubicBezTo>
                    <a:pt x="1450451" y="464828"/>
                    <a:pt x="1475110" y="533668"/>
                    <a:pt x="1487409" y="605196"/>
                  </a:cubicBezTo>
                  <a:lnTo>
                    <a:pt x="1495456" y="651993"/>
                  </a:lnTo>
                  <a:cubicBezTo>
                    <a:pt x="1507759" y="723547"/>
                    <a:pt x="1507815" y="796671"/>
                    <a:pt x="1495620" y="868244"/>
                  </a:cubicBezTo>
                  <a:lnTo>
                    <a:pt x="1487245" y="917398"/>
                  </a:lnTo>
                  <a:cubicBezTo>
                    <a:pt x="1475058" y="988926"/>
                    <a:pt x="1450297" y="1057729"/>
                    <a:pt x="1414109" y="1120619"/>
                  </a:cubicBezTo>
                  <a:lnTo>
                    <a:pt x="1390236" y="1162108"/>
                  </a:lnTo>
                  <a:cubicBezTo>
                    <a:pt x="1354037" y="1225018"/>
                    <a:pt x="1307201" y="1281174"/>
                    <a:pt x="1251810" y="1328079"/>
                  </a:cubicBezTo>
                  <a:lnTo>
                    <a:pt x="1216919" y="1357624"/>
                  </a:lnTo>
                  <a:cubicBezTo>
                    <a:pt x="1161533" y="1404525"/>
                    <a:pt x="1098393" y="1441408"/>
                    <a:pt x="1030336" y="1466618"/>
                  </a:cubicBezTo>
                  <a:lnTo>
                    <a:pt x="988525" y="1482105"/>
                  </a:lnTo>
                  <a:cubicBezTo>
                    <a:pt x="920488" y="1507307"/>
                    <a:pt x="848513" y="1520209"/>
                    <a:pt x="775959" y="1520209"/>
                  </a:cubicBezTo>
                  <a:lnTo>
                    <a:pt x="728766" y="1520209"/>
                  </a:lnTo>
                  <a:cubicBezTo>
                    <a:pt x="656212" y="1520209"/>
                    <a:pt x="584237" y="1507307"/>
                    <a:pt x="516200" y="1482105"/>
                  </a:cubicBezTo>
                  <a:lnTo>
                    <a:pt x="474389" y="1466618"/>
                  </a:lnTo>
                  <a:cubicBezTo>
                    <a:pt x="406332" y="1441408"/>
                    <a:pt x="343192" y="1404525"/>
                    <a:pt x="287806" y="1357624"/>
                  </a:cubicBezTo>
                  <a:lnTo>
                    <a:pt x="252915" y="1328079"/>
                  </a:lnTo>
                  <a:cubicBezTo>
                    <a:pt x="197524" y="1281174"/>
                    <a:pt x="150688" y="1225018"/>
                    <a:pt x="114489" y="1162108"/>
                  </a:cubicBezTo>
                  <a:lnTo>
                    <a:pt x="90616" y="1120619"/>
                  </a:lnTo>
                  <a:cubicBezTo>
                    <a:pt x="54428" y="1057729"/>
                    <a:pt x="29667" y="988926"/>
                    <a:pt x="17480" y="917398"/>
                  </a:cubicBezTo>
                  <a:lnTo>
                    <a:pt x="9105" y="868244"/>
                  </a:lnTo>
                  <a:cubicBezTo>
                    <a:pt x="-3090" y="796671"/>
                    <a:pt x="-3034" y="723547"/>
                    <a:pt x="9269" y="651993"/>
                  </a:cubicBezTo>
                  <a:lnTo>
                    <a:pt x="17316" y="605196"/>
                  </a:lnTo>
                  <a:cubicBezTo>
                    <a:pt x="29615" y="533668"/>
                    <a:pt x="54274" y="464828"/>
                    <a:pt x="90190" y="401760"/>
                  </a:cubicBezTo>
                  <a:lnTo>
                    <a:pt x="114914" y="358345"/>
                  </a:lnTo>
                  <a:cubicBezTo>
                    <a:pt x="150825" y="295286"/>
                    <a:pt x="197535" y="239026"/>
                    <a:pt x="252915" y="192130"/>
                  </a:cubicBezTo>
                  <a:lnTo>
                    <a:pt x="287806" y="162585"/>
                  </a:lnTo>
                  <a:cubicBezTo>
                    <a:pt x="343192" y="115684"/>
                    <a:pt x="406332" y="78801"/>
                    <a:pt x="474389" y="53591"/>
                  </a:cubicBezTo>
                  <a:lnTo>
                    <a:pt x="516200" y="38104"/>
                  </a:lnTo>
                  <a:cubicBezTo>
                    <a:pt x="584237" y="12902"/>
                    <a:pt x="656212" y="0"/>
                    <a:pt x="728766" y="0"/>
                  </a:cubicBezTo>
                  <a:lnTo>
                    <a:pt x="775959" y="0"/>
                  </a:lnTo>
                  <a:cubicBezTo>
                    <a:pt x="848513" y="0"/>
                    <a:pt x="920488" y="12902"/>
                    <a:pt x="988525" y="38104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228920" y="182241"/>
              <a:ext cx="1065525" cy="1117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336927" y="3330323"/>
            <a:ext cx="4005579" cy="2732471"/>
          </a:xfrm>
          <a:custGeom>
            <a:avLst/>
            <a:gdLst/>
            <a:ahLst/>
            <a:cxnLst/>
            <a:rect r="r" b="b" t="t" l="l"/>
            <a:pathLst>
              <a:path h="2732471" w="4005579">
                <a:moveTo>
                  <a:pt x="0" y="0"/>
                </a:moveTo>
                <a:lnTo>
                  <a:pt x="4005580" y="0"/>
                </a:lnTo>
                <a:lnTo>
                  <a:pt x="4005580" y="2732471"/>
                </a:lnTo>
                <a:lnTo>
                  <a:pt x="0" y="2732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97" t="-33002" r="-7945" b="-33002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1508" y="1859453"/>
            <a:ext cx="8700390" cy="538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018"/>
              </a:lnSpc>
              <a:spcBef>
                <a:spcPct val="0"/>
              </a:spcBef>
            </a:pPr>
            <a:r>
              <a:rPr lang="en-US" b="true" sz="307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1508" y="6521470"/>
            <a:ext cx="8732804" cy="155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Интеллект</a:t>
            </a:r>
            <a:r>
              <a:rPr lang="en-US" b="true" sz="296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уальный dashboard для мониторинга города. Оперативные данные для точных управленческих решений.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03990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502012" y="9181671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55692" y="2026627"/>
            <a:ext cx="7391561" cy="6425662"/>
            <a:chOff x="0" y="0"/>
            <a:chExt cx="1946749" cy="16923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6749" cy="1692355"/>
            </a:xfrm>
            <a:custGeom>
              <a:avLst/>
              <a:gdLst/>
              <a:ahLst/>
              <a:cxnLst/>
              <a:rect r="r" b="b" t="t" l="l"/>
              <a:pathLst>
                <a:path h="1692355" w="1946749">
                  <a:moveTo>
                    <a:pt x="20948" y="0"/>
                  </a:moveTo>
                  <a:lnTo>
                    <a:pt x="1925801" y="0"/>
                  </a:lnTo>
                  <a:cubicBezTo>
                    <a:pt x="1937370" y="0"/>
                    <a:pt x="1946749" y="9379"/>
                    <a:pt x="1946749" y="20948"/>
                  </a:cubicBezTo>
                  <a:lnTo>
                    <a:pt x="1946749" y="1671407"/>
                  </a:lnTo>
                  <a:cubicBezTo>
                    <a:pt x="1946749" y="1682977"/>
                    <a:pt x="1937370" y="1692355"/>
                    <a:pt x="1925801" y="1692355"/>
                  </a:cubicBezTo>
                  <a:lnTo>
                    <a:pt x="20948" y="1692355"/>
                  </a:lnTo>
                  <a:cubicBezTo>
                    <a:pt x="9379" y="1692355"/>
                    <a:pt x="0" y="1682977"/>
                    <a:pt x="0" y="1671407"/>
                  </a:cubicBezTo>
                  <a:lnTo>
                    <a:pt x="0" y="20948"/>
                  </a:lnTo>
                  <a:cubicBezTo>
                    <a:pt x="0" y="9379"/>
                    <a:pt x="9379" y="0"/>
                    <a:pt x="20948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46749" cy="1730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57842" y="1414195"/>
            <a:ext cx="5352939" cy="7458610"/>
            <a:chOff x="0" y="0"/>
            <a:chExt cx="829310" cy="11555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9310" cy="1155534"/>
            </a:xfrm>
            <a:custGeom>
              <a:avLst/>
              <a:gdLst/>
              <a:ahLst/>
              <a:cxnLst/>
              <a:rect r="r" b="b" t="t" l="l"/>
              <a:pathLst>
                <a:path h="1155534" w="829310">
                  <a:moveTo>
                    <a:pt x="31818" y="0"/>
                  </a:moveTo>
                  <a:lnTo>
                    <a:pt x="797492" y="0"/>
                  </a:lnTo>
                  <a:cubicBezTo>
                    <a:pt x="815065" y="0"/>
                    <a:pt x="829310" y="14246"/>
                    <a:pt x="829310" y="31818"/>
                  </a:cubicBezTo>
                  <a:lnTo>
                    <a:pt x="829310" y="1123715"/>
                  </a:lnTo>
                  <a:cubicBezTo>
                    <a:pt x="829310" y="1132154"/>
                    <a:pt x="825958" y="1140247"/>
                    <a:pt x="819991" y="1146214"/>
                  </a:cubicBezTo>
                  <a:cubicBezTo>
                    <a:pt x="814024" y="1152182"/>
                    <a:pt x="805931" y="1155534"/>
                    <a:pt x="797492" y="1155534"/>
                  </a:cubicBezTo>
                  <a:lnTo>
                    <a:pt x="31818" y="1155534"/>
                  </a:lnTo>
                  <a:cubicBezTo>
                    <a:pt x="14246" y="1155534"/>
                    <a:pt x="0" y="1141288"/>
                    <a:pt x="0" y="1123715"/>
                  </a:cubicBezTo>
                  <a:lnTo>
                    <a:pt x="0" y="31818"/>
                  </a:lnTo>
                  <a:cubicBezTo>
                    <a:pt x="0" y="14246"/>
                    <a:pt x="14246" y="0"/>
                    <a:pt x="3181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924" r="0" b="-3924"/>
              </a:stretch>
            </a:blipFill>
            <a:ln w="190500" cap="rnd">
              <a:solidFill>
                <a:srgbClr val="5CC97B"/>
              </a:solidFill>
              <a:prstDash val="solid"/>
              <a:round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34958" y="4201486"/>
            <a:ext cx="9231419" cy="4671319"/>
            <a:chOff x="0" y="0"/>
            <a:chExt cx="2431320" cy="12303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1320" cy="1230306"/>
            </a:xfrm>
            <a:custGeom>
              <a:avLst/>
              <a:gdLst/>
              <a:ahLst/>
              <a:cxnLst/>
              <a:rect r="r" b="b" t="t" l="l"/>
              <a:pathLst>
                <a:path h="1230306" w="2431320">
                  <a:moveTo>
                    <a:pt x="42771" y="0"/>
                  </a:moveTo>
                  <a:lnTo>
                    <a:pt x="2388549" y="0"/>
                  </a:lnTo>
                  <a:cubicBezTo>
                    <a:pt x="2412171" y="0"/>
                    <a:pt x="2431320" y="19149"/>
                    <a:pt x="2431320" y="42771"/>
                  </a:cubicBezTo>
                  <a:lnTo>
                    <a:pt x="2431320" y="1187535"/>
                  </a:lnTo>
                  <a:cubicBezTo>
                    <a:pt x="2431320" y="1211157"/>
                    <a:pt x="2412171" y="1230306"/>
                    <a:pt x="2388549" y="1230306"/>
                  </a:cubicBezTo>
                  <a:lnTo>
                    <a:pt x="42771" y="1230306"/>
                  </a:lnTo>
                  <a:cubicBezTo>
                    <a:pt x="19149" y="1230306"/>
                    <a:pt x="0" y="1211157"/>
                    <a:pt x="0" y="1187535"/>
                  </a:cubicBezTo>
                  <a:lnTo>
                    <a:pt x="0" y="42771"/>
                  </a:lnTo>
                  <a:cubicBezTo>
                    <a:pt x="0" y="19149"/>
                    <a:pt x="19149" y="0"/>
                    <a:pt x="42771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31320" cy="1268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4958" y="1693252"/>
            <a:ext cx="8158184" cy="206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558"/>
              </a:lnSpc>
              <a:spcBef>
                <a:spcPct val="0"/>
              </a:spcBef>
            </a:pPr>
            <a:r>
              <a:rPr lang="en-US" b="true" sz="118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9213" y="4350231"/>
            <a:ext cx="8822909" cy="46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733" indent="-256866" lvl="1">
              <a:lnSpc>
                <a:spcPts val="3140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Городские службы реагируют на проблемы только после того, как они случились — время упущено, ущерб нанесён.</a:t>
            </a:r>
          </a:p>
          <a:p>
            <a:pPr algn="l" marL="513733" indent="-256866" lvl="1">
              <a:lnSpc>
                <a:spcPts val="3140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Қалалық қызметтер мәселелерге тек олар орын алғаннан кейін ғана жауап береді — уақыт жоғалды, зиян келтірілді.</a:t>
            </a:r>
          </a:p>
          <a:p>
            <a:pPr algn="l" marL="513733" indent="-256866" lvl="1">
              <a:lnSpc>
                <a:spcPts val="3140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Управленцы тонут в сложных таблицах вместо получения готовых выводов и конкретных рекомендаций.</a:t>
            </a:r>
          </a:p>
          <a:p>
            <a:pPr algn="l" marL="513733" indent="-256866" lvl="1">
              <a:lnSpc>
                <a:spcPts val="3140"/>
              </a:lnSpc>
              <a:buFont typeface="Arial"/>
              <a:buChar char="•"/>
            </a:pPr>
            <a:r>
              <a:rPr lang="en-US" sz="23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Басқарушылар дайын қорытындылардың орнына күрделі кестелерге уақыт жоғалтады.</a:t>
            </a:r>
          </a:p>
          <a:p>
            <a:pPr algn="just">
              <a:lnSpc>
                <a:spcPts val="314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03990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047736" y="9134046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1542" y="1828531"/>
            <a:ext cx="11924917" cy="21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298"/>
              </a:lnSpc>
              <a:spcBef>
                <a:spcPct val="0"/>
              </a:spcBef>
            </a:pPr>
            <a:r>
              <a:rPr lang="en-US" b="true" sz="123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1508" y="5105400"/>
            <a:ext cx="16106934" cy="340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561" indent="-314281" lvl="1">
              <a:lnSpc>
                <a:spcPts val="3842"/>
              </a:lnSpc>
              <a:buFont typeface="Arial"/>
              <a:buChar char="•"/>
            </a:pPr>
            <a:r>
              <a:rPr lang="en-US" sz="2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Мы объединили данные Транспорта и Экологии. Дашборд не просто показывает цифры, он дает ответы на 3 вопроса: Что происходит? Насколько критично? Что делать?</a:t>
            </a:r>
          </a:p>
          <a:p>
            <a:pPr algn="just" marL="628561" indent="-314281" lvl="1">
              <a:lnSpc>
                <a:spcPts val="3842"/>
              </a:lnSpc>
              <a:buFont typeface="Arial"/>
              <a:buChar char="•"/>
            </a:pPr>
            <a:r>
              <a:rPr lang="en-US" sz="2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Біз Көлік және Экология деректерін біріктірдік. Дашборд тек сандарды көрсетіп қана қоймайды, 3 сұраққа жауап береді: Не болып жатыр? Қаншалықты қауіпті? Не істеу керек?</a:t>
            </a:r>
          </a:p>
          <a:p>
            <a:pPr algn="just">
              <a:lnSpc>
                <a:spcPts val="384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03990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0192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047736" y="9134046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34462" y="3480089"/>
            <a:ext cx="3658680" cy="3326822"/>
            <a:chOff x="0" y="0"/>
            <a:chExt cx="963603" cy="8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3603" cy="876200"/>
            </a:xfrm>
            <a:custGeom>
              <a:avLst/>
              <a:gdLst/>
              <a:ahLst/>
              <a:cxnLst/>
              <a:rect r="r" b="b" t="t" l="l"/>
              <a:pathLst>
                <a:path h="876200" w="963603">
                  <a:moveTo>
                    <a:pt x="42321" y="0"/>
                  </a:moveTo>
                  <a:lnTo>
                    <a:pt x="921282" y="0"/>
                  </a:lnTo>
                  <a:cubicBezTo>
                    <a:pt x="932506" y="0"/>
                    <a:pt x="943271" y="4459"/>
                    <a:pt x="951208" y="12395"/>
                  </a:cubicBezTo>
                  <a:cubicBezTo>
                    <a:pt x="959144" y="20332"/>
                    <a:pt x="963603" y="31097"/>
                    <a:pt x="963603" y="42321"/>
                  </a:cubicBezTo>
                  <a:lnTo>
                    <a:pt x="963603" y="833879"/>
                  </a:lnTo>
                  <a:cubicBezTo>
                    <a:pt x="963603" y="857252"/>
                    <a:pt x="944655" y="876200"/>
                    <a:pt x="921282" y="876200"/>
                  </a:cubicBezTo>
                  <a:lnTo>
                    <a:pt x="42321" y="876200"/>
                  </a:lnTo>
                  <a:cubicBezTo>
                    <a:pt x="31097" y="876200"/>
                    <a:pt x="20332" y="871741"/>
                    <a:pt x="12395" y="863805"/>
                  </a:cubicBezTo>
                  <a:cubicBezTo>
                    <a:pt x="4459" y="855868"/>
                    <a:pt x="0" y="845103"/>
                    <a:pt x="0" y="833879"/>
                  </a:cubicBezTo>
                  <a:lnTo>
                    <a:pt x="0" y="42321"/>
                  </a:lnTo>
                  <a:cubicBezTo>
                    <a:pt x="0" y="31097"/>
                    <a:pt x="4459" y="20332"/>
                    <a:pt x="12395" y="12395"/>
                  </a:cubicBezTo>
                  <a:cubicBezTo>
                    <a:pt x="20332" y="4459"/>
                    <a:pt x="31097" y="0"/>
                    <a:pt x="42321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63603" cy="9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496035" y="2305724"/>
            <a:ext cx="7846345" cy="5551297"/>
            <a:chOff x="0" y="0"/>
            <a:chExt cx="1215604" cy="8600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5604" cy="860041"/>
            </a:xfrm>
            <a:custGeom>
              <a:avLst/>
              <a:gdLst/>
              <a:ahLst/>
              <a:cxnLst/>
              <a:rect r="r" b="b" t="t" l="l"/>
              <a:pathLst>
                <a:path h="860041" w="1215604">
                  <a:moveTo>
                    <a:pt x="21707" y="0"/>
                  </a:moveTo>
                  <a:lnTo>
                    <a:pt x="1193897" y="0"/>
                  </a:lnTo>
                  <a:cubicBezTo>
                    <a:pt x="1205886" y="0"/>
                    <a:pt x="1215604" y="9719"/>
                    <a:pt x="1215604" y="21707"/>
                  </a:cubicBezTo>
                  <a:lnTo>
                    <a:pt x="1215604" y="838334"/>
                  </a:lnTo>
                  <a:cubicBezTo>
                    <a:pt x="1215604" y="850323"/>
                    <a:pt x="1205886" y="860041"/>
                    <a:pt x="1193897" y="860041"/>
                  </a:cubicBezTo>
                  <a:lnTo>
                    <a:pt x="21707" y="860041"/>
                  </a:lnTo>
                  <a:cubicBezTo>
                    <a:pt x="9719" y="860041"/>
                    <a:pt x="0" y="850323"/>
                    <a:pt x="0" y="838334"/>
                  </a:cubicBezTo>
                  <a:lnTo>
                    <a:pt x="0" y="21707"/>
                  </a:lnTo>
                  <a:cubicBezTo>
                    <a:pt x="0" y="9719"/>
                    <a:pt x="9719" y="0"/>
                    <a:pt x="21707" y="0"/>
                  </a:cubicBezTo>
                  <a:close/>
                </a:path>
              </a:pathLst>
            </a:custGeom>
            <a:blipFill>
              <a:blip r:embed="rId6"/>
              <a:stretch>
                <a:fillRect l="-13582" t="0" r="-13582" b="0"/>
              </a:stretch>
            </a:blipFill>
            <a:ln w="190500" cap="rnd">
              <a:solidFill>
                <a:srgbClr val="5CC97B"/>
              </a:solidFill>
              <a:prstDash val="solid"/>
              <a:round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78103" y="1055766"/>
            <a:ext cx="10595223" cy="106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40"/>
              </a:lnSpc>
            </a:pPr>
            <a:r>
              <a:rPr lang="en-US" b="true" sz="5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AI ANALYTICS WORKS</a:t>
            </a:r>
          </a:p>
          <a:p>
            <a:pPr algn="just" marL="0" indent="0" lvl="0">
              <a:lnSpc>
                <a:spcPts val="586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875714" y="2249750"/>
            <a:ext cx="7832728" cy="610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08"/>
              </a:lnSpc>
            </a:pPr>
            <a:r>
              <a:rPr lang="en-US" sz="4097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Ключевая функция платформы — агрегация данных в реальном времени (API TomTom, OpenWeather) и автоматическая генерация выводов с помощью ИИ. Система выявляет аномалии и дает рекомендации городским службам.</a:t>
            </a:r>
          </a:p>
          <a:p>
            <a:pPr algn="just">
              <a:lnSpc>
                <a:spcPts val="540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5858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03990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047736" y="9134046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939" y="1843597"/>
            <a:ext cx="15688816" cy="21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298"/>
              </a:lnSpc>
              <a:spcBef>
                <a:spcPct val="0"/>
              </a:spcBef>
            </a:pPr>
            <a:r>
              <a:rPr lang="en-US" b="true" sz="123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VALUE FOR THE CITY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2412" y="4527247"/>
            <a:ext cx="13584503" cy="201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8524" indent="-329262" lvl="1">
              <a:lnSpc>
                <a:spcPts val="4026"/>
              </a:lnSpc>
              <a:buFont typeface="Arial"/>
              <a:buChar char="•"/>
            </a:pPr>
            <a:r>
              <a:rPr lang="en-US" sz="3050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Снижение социальной напряженности (решаем проблемы до жалоб).</a:t>
            </a:r>
          </a:p>
          <a:p>
            <a:pPr algn="just" marL="658524" indent="-329262" lvl="1">
              <a:lnSpc>
                <a:spcPts val="4026"/>
              </a:lnSpc>
              <a:buFont typeface="Arial"/>
              <a:buChar char="•"/>
            </a:pPr>
            <a:r>
              <a:rPr lang="en-US" sz="3050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Ус</a:t>
            </a:r>
            <a:r>
              <a:rPr lang="en-US" sz="3050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корение реакции городских служб за счет автоматического анализа инцидентов.</a:t>
            </a:r>
          </a:p>
          <a:p>
            <a:pPr algn="just" marL="658524" indent="-329262" lvl="1">
              <a:lnSpc>
                <a:spcPts val="4026"/>
              </a:lnSpc>
              <a:buFont typeface="Arial"/>
              <a:buChar char="•"/>
            </a:pPr>
            <a:r>
              <a:rPr lang="en-US" sz="3050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Экологическая и транспортная безопасность.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03990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502012" y="9181671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12130" y="1600334"/>
            <a:ext cx="6472839" cy="6386681"/>
            <a:chOff x="0" y="0"/>
            <a:chExt cx="1704781" cy="16820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4781" cy="1682089"/>
            </a:xfrm>
            <a:custGeom>
              <a:avLst/>
              <a:gdLst/>
              <a:ahLst/>
              <a:cxnLst/>
              <a:rect r="r" b="b" t="t" l="l"/>
              <a:pathLst>
                <a:path h="1682089" w="1704781">
                  <a:moveTo>
                    <a:pt x="23921" y="0"/>
                  </a:moveTo>
                  <a:lnTo>
                    <a:pt x="1680859" y="0"/>
                  </a:lnTo>
                  <a:cubicBezTo>
                    <a:pt x="1694071" y="0"/>
                    <a:pt x="1704781" y="10710"/>
                    <a:pt x="1704781" y="23921"/>
                  </a:cubicBezTo>
                  <a:lnTo>
                    <a:pt x="1704781" y="1658168"/>
                  </a:lnTo>
                  <a:cubicBezTo>
                    <a:pt x="1704781" y="1671379"/>
                    <a:pt x="1694071" y="1682089"/>
                    <a:pt x="1680859" y="1682089"/>
                  </a:cubicBezTo>
                  <a:lnTo>
                    <a:pt x="23921" y="1682089"/>
                  </a:lnTo>
                  <a:cubicBezTo>
                    <a:pt x="10710" y="1682089"/>
                    <a:pt x="0" y="1671379"/>
                    <a:pt x="0" y="1658168"/>
                  </a:cubicBezTo>
                  <a:lnTo>
                    <a:pt x="0" y="23921"/>
                  </a:lnTo>
                  <a:cubicBezTo>
                    <a:pt x="0" y="10710"/>
                    <a:pt x="10710" y="0"/>
                    <a:pt x="23921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04781" cy="1720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90445" y="1942545"/>
            <a:ext cx="5516208" cy="5702259"/>
            <a:chOff x="0" y="0"/>
            <a:chExt cx="690317" cy="713600"/>
          </a:xfrm>
        </p:grpSpPr>
        <p:sp>
          <p:nvSpPr>
            <p:cNvPr name="Freeform 20" id="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690317" cy="713600"/>
            </a:xfrm>
            <a:custGeom>
              <a:avLst/>
              <a:gdLst/>
              <a:ahLst/>
              <a:cxnLst/>
              <a:rect r="r" b="b" t="t" l="l"/>
              <a:pathLst>
                <a:path h="713600" w="690317">
                  <a:moveTo>
                    <a:pt x="30877" y="0"/>
                  </a:moveTo>
                  <a:lnTo>
                    <a:pt x="659440" y="0"/>
                  </a:lnTo>
                  <a:cubicBezTo>
                    <a:pt x="676493" y="0"/>
                    <a:pt x="690317" y="13824"/>
                    <a:pt x="690317" y="30877"/>
                  </a:cubicBezTo>
                  <a:lnTo>
                    <a:pt x="690317" y="682723"/>
                  </a:lnTo>
                  <a:cubicBezTo>
                    <a:pt x="690317" y="699776"/>
                    <a:pt x="676493" y="713600"/>
                    <a:pt x="659440" y="713600"/>
                  </a:cubicBezTo>
                  <a:lnTo>
                    <a:pt x="30877" y="713600"/>
                  </a:lnTo>
                  <a:cubicBezTo>
                    <a:pt x="13824" y="713600"/>
                    <a:pt x="0" y="699776"/>
                    <a:pt x="0" y="682723"/>
                  </a:cubicBezTo>
                  <a:lnTo>
                    <a:pt x="0" y="30877"/>
                  </a:lnTo>
                  <a:cubicBezTo>
                    <a:pt x="0" y="13824"/>
                    <a:pt x="13824" y="0"/>
                    <a:pt x="30877" y="0"/>
                  </a:cubicBezTo>
                  <a:close/>
                </a:path>
              </a:pathLst>
            </a:custGeom>
            <a:blipFill>
              <a:blip r:embed="rId6"/>
              <a:stretch>
                <a:fillRect l="-1686" t="0" r="-1686" b="0"/>
              </a:stretch>
            </a:blipFill>
            <a:ln w="190500" cap="rnd">
              <a:solidFill>
                <a:srgbClr val="5CC97B"/>
              </a:solidFill>
              <a:prstDash val="solid"/>
              <a:round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1508" y="2262448"/>
            <a:ext cx="7251967" cy="21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298"/>
              </a:lnSpc>
              <a:spcBef>
                <a:spcPct val="0"/>
              </a:spcBef>
            </a:pPr>
            <a:r>
              <a:rPr lang="en-US" b="true" sz="123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READY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1508" y="4110837"/>
            <a:ext cx="10844472" cy="197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315"/>
              </a:lnSpc>
              <a:spcBef>
                <a:spcPct val="0"/>
              </a:spcBef>
            </a:pPr>
            <a:r>
              <a:rPr lang="en-US" sz="10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THE DEMO!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1508" y="8526714"/>
            <a:ext cx="10623631" cy="152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7"/>
              </a:lnSpc>
            </a:pPr>
            <a:r>
              <a:rPr lang="en-US" sz="3065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“Отсканируйте QR-код, чтобы открыть живое демо AUA" </a:t>
            </a:r>
          </a:p>
          <a:p>
            <a:pPr algn="just">
              <a:lnSpc>
                <a:spcPts val="4047"/>
              </a:lnSpc>
            </a:pPr>
          </a:p>
          <a:p>
            <a:pPr algn="just">
              <a:lnSpc>
                <a:spcPts val="4047"/>
              </a:lnSpc>
            </a:pPr>
            <a:r>
              <a:rPr lang="en-US" sz="3065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"AUA демо-нұсқасын ашу үшін QR-кодты сканерлеңіз"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03990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94465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502012" y="9181671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1508" y="4955078"/>
            <a:ext cx="3565438" cy="1706900"/>
            <a:chOff x="0" y="0"/>
            <a:chExt cx="939045" cy="4495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9045" cy="449554"/>
            </a:xfrm>
            <a:custGeom>
              <a:avLst/>
              <a:gdLst/>
              <a:ahLst/>
              <a:cxnLst/>
              <a:rect r="r" b="b" t="t" l="l"/>
              <a:pathLst>
                <a:path h="449554" w="939045">
                  <a:moveTo>
                    <a:pt x="110740" y="0"/>
                  </a:moveTo>
                  <a:lnTo>
                    <a:pt x="828305" y="0"/>
                  </a:lnTo>
                  <a:cubicBezTo>
                    <a:pt x="889465" y="0"/>
                    <a:pt x="939045" y="49580"/>
                    <a:pt x="939045" y="110740"/>
                  </a:cubicBezTo>
                  <a:lnTo>
                    <a:pt x="939045" y="338813"/>
                  </a:lnTo>
                  <a:cubicBezTo>
                    <a:pt x="939045" y="368184"/>
                    <a:pt x="927378" y="396351"/>
                    <a:pt x="906610" y="417119"/>
                  </a:cubicBezTo>
                  <a:cubicBezTo>
                    <a:pt x="885843" y="437886"/>
                    <a:pt x="857675" y="449554"/>
                    <a:pt x="828305" y="449554"/>
                  </a:cubicBezTo>
                  <a:lnTo>
                    <a:pt x="110740" y="449554"/>
                  </a:lnTo>
                  <a:cubicBezTo>
                    <a:pt x="81370" y="449554"/>
                    <a:pt x="53203" y="437886"/>
                    <a:pt x="32435" y="417119"/>
                  </a:cubicBezTo>
                  <a:cubicBezTo>
                    <a:pt x="11667" y="396351"/>
                    <a:pt x="0" y="368184"/>
                    <a:pt x="0" y="338813"/>
                  </a:cubicBezTo>
                  <a:lnTo>
                    <a:pt x="0" y="110740"/>
                  </a:lnTo>
                  <a:cubicBezTo>
                    <a:pt x="0" y="81370"/>
                    <a:pt x="11667" y="53203"/>
                    <a:pt x="32435" y="32435"/>
                  </a:cubicBezTo>
                  <a:cubicBezTo>
                    <a:pt x="53203" y="11667"/>
                    <a:pt x="81370" y="0"/>
                    <a:pt x="110740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42875"/>
              <a:ext cx="939045" cy="59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65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0643" y="1604269"/>
            <a:ext cx="9617945" cy="272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802"/>
              </a:lnSpc>
              <a:spcBef>
                <a:spcPct val="0"/>
              </a:spcBef>
            </a:pPr>
            <a:r>
              <a:rPr lang="en-US" b="true" sz="155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AUA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69173" y="1787571"/>
            <a:ext cx="7734409" cy="241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702"/>
              </a:lnSpc>
              <a:spcBef>
                <a:spcPct val="0"/>
              </a:spcBef>
            </a:pPr>
            <a:r>
              <a:rPr lang="en-US" sz="133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IMPACT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2801" y="4986557"/>
            <a:ext cx="5539426" cy="3635822"/>
            <a:chOff x="0" y="0"/>
            <a:chExt cx="7385901" cy="484776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90500"/>
              <a:ext cx="5654128" cy="1987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716"/>
                </a:lnSpc>
              </a:pPr>
              <a:r>
                <a:rPr lang="en-US" b="true" sz="10716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-2</a:t>
              </a:r>
              <a:r>
                <a:rPr lang="en-US" b="true" sz="10716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5%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810210"/>
              <a:ext cx="7385901" cy="2037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1"/>
                </a:lnSpc>
              </a:pPr>
              <a:r>
                <a:rPr lang="en-US" sz="2743" spc="93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Снижение</a:t>
              </a:r>
              <a:r>
                <a:rPr lang="en-US" sz="2743" spc="93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 времени в заторах. Оптимизация транспортных потоков в часы пик.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44955" y="4955078"/>
            <a:ext cx="3161301" cy="1706900"/>
            <a:chOff x="0" y="0"/>
            <a:chExt cx="832606" cy="4495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2606" cy="449554"/>
            </a:xfrm>
            <a:custGeom>
              <a:avLst/>
              <a:gdLst/>
              <a:ahLst/>
              <a:cxnLst/>
              <a:rect r="r" b="b" t="t" l="l"/>
              <a:pathLst>
                <a:path h="449554" w="832606">
                  <a:moveTo>
                    <a:pt x="124897" y="0"/>
                  </a:moveTo>
                  <a:lnTo>
                    <a:pt x="707709" y="0"/>
                  </a:lnTo>
                  <a:cubicBezTo>
                    <a:pt x="740834" y="0"/>
                    <a:pt x="772602" y="13159"/>
                    <a:pt x="796024" y="36582"/>
                  </a:cubicBezTo>
                  <a:cubicBezTo>
                    <a:pt x="819447" y="60004"/>
                    <a:pt x="832606" y="91772"/>
                    <a:pt x="832606" y="124897"/>
                  </a:cubicBezTo>
                  <a:lnTo>
                    <a:pt x="832606" y="324656"/>
                  </a:lnTo>
                  <a:cubicBezTo>
                    <a:pt x="832606" y="357781"/>
                    <a:pt x="819447" y="389549"/>
                    <a:pt x="796024" y="412972"/>
                  </a:cubicBezTo>
                  <a:cubicBezTo>
                    <a:pt x="772602" y="436395"/>
                    <a:pt x="740834" y="449554"/>
                    <a:pt x="707709" y="449554"/>
                  </a:cubicBezTo>
                  <a:lnTo>
                    <a:pt x="124897" y="449554"/>
                  </a:lnTo>
                  <a:cubicBezTo>
                    <a:pt x="91772" y="449554"/>
                    <a:pt x="60004" y="436395"/>
                    <a:pt x="36582" y="412972"/>
                  </a:cubicBezTo>
                  <a:cubicBezTo>
                    <a:pt x="13159" y="389549"/>
                    <a:pt x="0" y="357781"/>
                    <a:pt x="0" y="324656"/>
                  </a:cubicBezTo>
                  <a:lnTo>
                    <a:pt x="0" y="124897"/>
                  </a:lnTo>
                  <a:cubicBezTo>
                    <a:pt x="0" y="91772"/>
                    <a:pt x="13159" y="60004"/>
                    <a:pt x="36582" y="36582"/>
                  </a:cubicBezTo>
                  <a:cubicBezTo>
                    <a:pt x="60004" y="13159"/>
                    <a:pt x="91772" y="0"/>
                    <a:pt x="124897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42875"/>
              <a:ext cx="832606" cy="59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65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85994" y="5044243"/>
            <a:ext cx="5553327" cy="3780188"/>
            <a:chOff x="0" y="0"/>
            <a:chExt cx="7404436" cy="5040251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875154" y="190500"/>
              <a:ext cx="5654128" cy="1987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716"/>
                </a:lnSpc>
              </a:pPr>
              <a:r>
                <a:rPr lang="en-US" b="true" sz="10716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 -90</a:t>
              </a:r>
              <a:r>
                <a:rPr lang="en-US" b="true" sz="10716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%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2294436"/>
              <a:ext cx="7404436" cy="274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2"/>
                </a:lnSpc>
              </a:pPr>
              <a:r>
                <a:rPr lang="en-US" sz="2750" spc="93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Ускорение</a:t>
              </a:r>
              <a:r>
                <a:rPr lang="en-US" sz="2750" spc="93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 реакции. Сокращение времени от фиксации проблемы до внедрения решения.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70612" y="4955078"/>
            <a:ext cx="3161301" cy="1706900"/>
            <a:chOff x="0" y="0"/>
            <a:chExt cx="832606" cy="4495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2606" cy="449554"/>
            </a:xfrm>
            <a:custGeom>
              <a:avLst/>
              <a:gdLst/>
              <a:ahLst/>
              <a:cxnLst/>
              <a:rect r="r" b="b" t="t" l="l"/>
              <a:pathLst>
                <a:path h="449554" w="832606">
                  <a:moveTo>
                    <a:pt x="124897" y="0"/>
                  </a:moveTo>
                  <a:lnTo>
                    <a:pt x="707709" y="0"/>
                  </a:lnTo>
                  <a:cubicBezTo>
                    <a:pt x="740834" y="0"/>
                    <a:pt x="772602" y="13159"/>
                    <a:pt x="796024" y="36582"/>
                  </a:cubicBezTo>
                  <a:cubicBezTo>
                    <a:pt x="819447" y="60004"/>
                    <a:pt x="832606" y="91772"/>
                    <a:pt x="832606" y="124897"/>
                  </a:cubicBezTo>
                  <a:lnTo>
                    <a:pt x="832606" y="324656"/>
                  </a:lnTo>
                  <a:cubicBezTo>
                    <a:pt x="832606" y="357781"/>
                    <a:pt x="819447" y="389549"/>
                    <a:pt x="796024" y="412972"/>
                  </a:cubicBezTo>
                  <a:cubicBezTo>
                    <a:pt x="772602" y="436395"/>
                    <a:pt x="740834" y="449554"/>
                    <a:pt x="707709" y="449554"/>
                  </a:cubicBezTo>
                  <a:lnTo>
                    <a:pt x="124897" y="449554"/>
                  </a:lnTo>
                  <a:cubicBezTo>
                    <a:pt x="91772" y="449554"/>
                    <a:pt x="60004" y="436395"/>
                    <a:pt x="36582" y="412972"/>
                  </a:cubicBezTo>
                  <a:cubicBezTo>
                    <a:pt x="13159" y="389549"/>
                    <a:pt x="0" y="357781"/>
                    <a:pt x="0" y="324656"/>
                  </a:cubicBezTo>
                  <a:lnTo>
                    <a:pt x="0" y="124897"/>
                  </a:lnTo>
                  <a:cubicBezTo>
                    <a:pt x="0" y="91772"/>
                    <a:pt x="13159" y="60004"/>
                    <a:pt x="36582" y="36582"/>
                  </a:cubicBezTo>
                  <a:cubicBezTo>
                    <a:pt x="60004" y="13159"/>
                    <a:pt x="91772" y="0"/>
                    <a:pt x="124897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42875"/>
              <a:ext cx="832606" cy="59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651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19596" y="4964674"/>
            <a:ext cx="5542629" cy="3882451"/>
            <a:chOff x="0" y="0"/>
            <a:chExt cx="7390172" cy="5176601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868022" y="190500"/>
              <a:ext cx="5654128" cy="1987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716"/>
                </a:lnSpc>
              </a:pPr>
              <a:r>
                <a:rPr lang="en-US" b="true" sz="10716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-20</a:t>
              </a:r>
              <a:r>
                <a:rPr lang="en-US" b="true" sz="10716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%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2435892"/>
              <a:ext cx="7390172" cy="274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4"/>
                </a:lnSpc>
              </a:pPr>
              <a:r>
                <a:rPr lang="en-US" sz="2744" spc="93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Уменьшение пиковых значений PM2.5 и CO2 за счет оперативных управленческих мер.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994465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58" y="428021"/>
            <a:ext cx="17400779" cy="600679"/>
            <a:chOff x="0" y="0"/>
            <a:chExt cx="4582921" cy="158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921" cy="158203"/>
            </a:xfrm>
            <a:custGeom>
              <a:avLst/>
              <a:gdLst/>
              <a:ahLst/>
              <a:cxnLst/>
              <a:rect r="r" b="b" t="t" l="l"/>
              <a:pathLst>
                <a:path h="158203" w="4582921">
                  <a:moveTo>
                    <a:pt x="4894" y="0"/>
                  </a:moveTo>
                  <a:lnTo>
                    <a:pt x="4578027" y="0"/>
                  </a:lnTo>
                  <a:cubicBezTo>
                    <a:pt x="4580730" y="0"/>
                    <a:pt x="4582921" y="2191"/>
                    <a:pt x="4582921" y="4894"/>
                  </a:cubicBezTo>
                  <a:lnTo>
                    <a:pt x="4582921" y="153309"/>
                  </a:lnTo>
                  <a:cubicBezTo>
                    <a:pt x="4582921" y="156012"/>
                    <a:pt x="4580730" y="158203"/>
                    <a:pt x="4578027" y="158203"/>
                  </a:cubicBezTo>
                  <a:lnTo>
                    <a:pt x="4894" y="158203"/>
                  </a:lnTo>
                  <a:cubicBezTo>
                    <a:pt x="3596" y="158203"/>
                    <a:pt x="2351" y="157688"/>
                    <a:pt x="1433" y="156770"/>
                  </a:cubicBezTo>
                  <a:cubicBezTo>
                    <a:pt x="516" y="155852"/>
                    <a:pt x="0" y="154607"/>
                    <a:pt x="0" y="153309"/>
                  </a:cubicBezTo>
                  <a:lnTo>
                    <a:pt x="0" y="4894"/>
                  </a:lnTo>
                  <a:cubicBezTo>
                    <a:pt x="0" y="3596"/>
                    <a:pt x="516" y="2351"/>
                    <a:pt x="1433" y="1433"/>
                  </a:cubicBezTo>
                  <a:cubicBezTo>
                    <a:pt x="2351" y="516"/>
                    <a:pt x="3596" y="0"/>
                    <a:pt x="4894" y="0"/>
                  </a:cubicBezTo>
                  <a:close/>
                </a:path>
              </a:pathLst>
            </a:custGeom>
            <a:solidFill>
              <a:srgbClr val="5CC97B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82921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79917" y="439004"/>
            <a:ext cx="755820" cy="600679"/>
            <a:chOff x="0" y="0"/>
            <a:chExt cx="199064" cy="158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064" cy="158203"/>
            </a:xfrm>
            <a:custGeom>
              <a:avLst/>
              <a:gdLst/>
              <a:ahLst/>
              <a:cxnLst/>
              <a:rect r="r" b="b" t="t" l="l"/>
              <a:pathLst>
                <a:path h="158203" w="199064">
                  <a:moveTo>
                    <a:pt x="79102" y="0"/>
                  </a:moveTo>
                  <a:lnTo>
                    <a:pt x="119962" y="0"/>
                  </a:lnTo>
                  <a:cubicBezTo>
                    <a:pt x="140941" y="0"/>
                    <a:pt x="161061" y="8334"/>
                    <a:pt x="175895" y="23168"/>
                  </a:cubicBezTo>
                  <a:cubicBezTo>
                    <a:pt x="190730" y="38003"/>
                    <a:pt x="199064" y="58123"/>
                    <a:pt x="199064" y="79102"/>
                  </a:cubicBezTo>
                  <a:lnTo>
                    <a:pt x="199064" y="79102"/>
                  </a:lnTo>
                  <a:cubicBezTo>
                    <a:pt x="199064" y="122788"/>
                    <a:pt x="163649" y="158203"/>
                    <a:pt x="119962" y="158203"/>
                  </a:cubicBezTo>
                  <a:lnTo>
                    <a:pt x="79102" y="158203"/>
                  </a:lnTo>
                  <a:cubicBezTo>
                    <a:pt x="58123" y="158203"/>
                    <a:pt x="38003" y="149869"/>
                    <a:pt x="23168" y="135035"/>
                  </a:cubicBezTo>
                  <a:cubicBezTo>
                    <a:pt x="8334" y="120201"/>
                    <a:pt x="0" y="100081"/>
                    <a:pt x="0" y="79102"/>
                  </a:cubicBezTo>
                  <a:lnTo>
                    <a:pt x="0" y="79102"/>
                  </a:lnTo>
                  <a:cubicBezTo>
                    <a:pt x="0" y="58123"/>
                    <a:pt x="8334" y="38003"/>
                    <a:pt x="23168" y="23168"/>
                  </a:cubicBezTo>
                  <a:cubicBezTo>
                    <a:pt x="38003" y="8334"/>
                    <a:pt x="58123" y="0"/>
                    <a:pt x="79102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9064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68401" y="538935"/>
            <a:ext cx="378852" cy="378852"/>
          </a:xfrm>
          <a:custGeom>
            <a:avLst/>
            <a:gdLst/>
            <a:ahLst/>
            <a:cxnLst/>
            <a:rect r="r" b="b" t="t" l="l"/>
            <a:pathLst>
              <a:path h="378852" w="378852">
                <a:moveTo>
                  <a:pt x="0" y="0"/>
                </a:moveTo>
                <a:lnTo>
                  <a:pt x="378852" y="0"/>
                </a:lnTo>
                <a:lnTo>
                  <a:pt x="378852" y="378852"/>
                </a:lnTo>
                <a:lnTo>
                  <a:pt x="0" y="37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4958" y="417039"/>
            <a:ext cx="2569032" cy="600679"/>
            <a:chOff x="0" y="0"/>
            <a:chExt cx="676617" cy="158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17" cy="158203"/>
            </a:xfrm>
            <a:custGeom>
              <a:avLst/>
              <a:gdLst/>
              <a:ahLst/>
              <a:cxnLst/>
              <a:rect r="r" b="b" t="t" l="l"/>
              <a:pathLst>
                <a:path h="158203" w="676617">
                  <a:moveTo>
                    <a:pt x="33149" y="0"/>
                  </a:moveTo>
                  <a:lnTo>
                    <a:pt x="643468" y="0"/>
                  </a:lnTo>
                  <a:cubicBezTo>
                    <a:pt x="661776" y="0"/>
                    <a:pt x="676617" y="14841"/>
                    <a:pt x="676617" y="33149"/>
                  </a:cubicBezTo>
                  <a:lnTo>
                    <a:pt x="676617" y="125054"/>
                  </a:lnTo>
                  <a:cubicBezTo>
                    <a:pt x="676617" y="143362"/>
                    <a:pt x="661776" y="158203"/>
                    <a:pt x="643468" y="158203"/>
                  </a:cubicBezTo>
                  <a:lnTo>
                    <a:pt x="33149" y="158203"/>
                  </a:lnTo>
                  <a:cubicBezTo>
                    <a:pt x="14841" y="158203"/>
                    <a:pt x="0" y="143362"/>
                    <a:pt x="0" y="125054"/>
                  </a:cubicBezTo>
                  <a:lnTo>
                    <a:pt x="0" y="33149"/>
                  </a:lnTo>
                  <a:cubicBezTo>
                    <a:pt x="0" y="14841"/>
                    <a:pt x="14841" y="0"/>
                    <a:pt x="33149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76617" cy="20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1508" y="553966"/>
            <a:ext cx="362586" cy="299026"/>
          </a:xfrm>
          <a:custGeom>
            <a:avLst/>
            <a:gdLst/>
            <a:ahLst/>
            <a:cxnLst/>
            <a:rect r="r" b="b" t="t" l="l"/>
            <a:pathLst>
              <a:path h="299026" w="362586">
                <a:moveTo>
                  <a:pt x="0" y="0"/>
                </a:moveTo>
                <a:lnTo>
                  <a:pt x="362586" y="0"/>
                </a:lnTo>
                <a:lnTo>
                  <a:pt x="362586" y="299025"/>
                </a:lnTo>
                <a:lnTo>
                  <a:pt x="0" y="29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502012" y="9181671"/>
            <a:ext cx="16097966" cy="248508"/>
            <a:chOff x="0" y="0"/>
            <a:chExt cx="4239794" cy="6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9794" cy="65451"/>
            </a:xfrm>
            <a:custGeom>
              <a:avLst/>
              <a:gdLst/>
              <a:ahLst/>
              <a:cxnLst/>
              <a:rect r="r" b="b" t="t" l="l"/>
              <a:pathLst>
                <a:path h="65451" w="4239794">
                  <a:moveTo>
                    <a:pt x="3366" y="0"/>
                  </a:moveTo>
                  <a:lnTo>
                    <a:pt x="4236427" y="0"/>
                  </a:lnTo>
                  <a:cubicBezTo>
                    <a:pt x="4237320" y="0"/>
                    <a:pt x="4238176" y="355"/>
                    <a:pt x="4238808" y="986"/>
                  </a:cubicBezTo>
                  <a:cubicBezTo>
                    <a:pt x="4239439" y="1617"/>
                    <a:pt x="4239794" y="2474"/>
                    <a:pt x="4239794" y="3366"/>
                  </a:cubicBezTo>
                  <a:lnTo>
                    <a:pt x="4239794" y="62084"/>
                  </a:lnTo>
                  <a:cubicBezTo>
                    <a:pt x="4239794" y="63943"/>
                    <a:pt x="4238286" y="65451"/>
                    <a:pt x="4236427" y="65451"/>
                  </a:cubicBezTo>
                  <a:lnTo>
                    <a:pt x="3366" y="65451"/>
                  </a:lnTo>
                  <a:cubicBezTo>
                    <a:pt x="2474" y="65451"/>
                    <a:pt x="1617" y="65096"/>
                    <a:pt x="986" y="64465"/>
                  </a:cubicBezTo>
                  <a:cubicBezTo>
                    <a:pt x="355" y="63833"/>
                    <a:pt x="0" y="62977"/>
                    <a:pt x="0" y="62084"/>
                  </a:cubicBezTo>
                  <a:lnTo>
                    <a:pt x="0" y="3366"/>
                  </a:lnTo>
                  <a:cubicBezTo>
                    <a:pt x="0" y="2474"/>
                    <a:pt x="355" y="1617"/>
                    <a:pt x="986" y="986"/>
                  </a:cubicBezTo>
                  <a:cubicBezTo>
                    <a:pt x="1617" y="355"/>
                    <a:pt x="2474" y="0"/>
                    <a:pt x="3366" y="0"/>
                  </a:cubicBez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9794" cy="103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7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1038" y="565630"/>
            <a:ext cx="2302036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ANTARES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57451" y="1378224"/>
            <a:ext cx="10376861" cy="394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614"/>
              </a:lnSpc>
              <a:spcBef>
                <a:spcPct val="0"/>
              </a:spcBef>
            </a:pPr>
            <a:r>
              <a:rPr lang="en-US" b="true" sz="225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03224" y="3622430"/>
            <a:ext cx="9464247" cy="634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182"/>
              </a:lnSpc>
              <a:spcBef>
                <a:spcPct val="0"/>
              </a:spcBef>
            </a:pPr>
            <a:r>
              <a:rPr lang="en-US" sz="351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94465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5098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66539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049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93142" y="587596"/>
            <a:ext cx="166255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77638" y="587596"/>
            <a:ext cx="1907082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9717" y="565630"/>
            <a:ext cx="1589190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588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83467" y="587596"/>
            <a:ext cx="2224975" cy="2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FFFFFF">
                    <a:alpha val="4980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DAHFySpdoxA</dc:identifier>
  <dcterms:modified xsi:type="dcterms:W3CDTF">2011-08-01T06:04:30Z</dcterms:modified>
  <cp:revision>1</cp:revision>
  <dc:title>Aua presentation</dc:title>
</cp:coreProperties>
</file>